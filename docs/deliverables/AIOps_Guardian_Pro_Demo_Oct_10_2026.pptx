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D6C2"/>
          </a:solidFill>
          <a:ln w="12700">
            <a:solidFill>
              <a:srgbClr val="42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713232"/>
            <a:ext cx="6949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2D6C2"/>
                </a:solidFill>
                <a:latin typeface="Aptos"/>
              </a:rPr>
              <a:t>AIOPS GUARDIAN PRO  /  AN INCIDENT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6858000" cy="1508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3F5F2"/>
                </a:solidFill>
                <a:latin typeface="Aptos"/>
              </a:rPr>
              <a:t>02:07 AM.
Checkout is failing.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182112"/>
            <a:ext cx="6583680" cy="7498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EBBC4"/>
                </a:solidFill>
                <a:latin typeface="Aptos"/>
              </a:rPr>
              <a:t>Maya is on call. Guardian helps her investigate -
without taking control of production.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353312"/>
            <a:ext cx="3063240" cy="2377440"/>
          </a:xfrm>
          <a:prstGeom prst="rect">
            <a:avLst/>
          </a:prstGeom>
          <a:solidFill>
            <a:srgbClr val="1C2832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21040" y="1353312"/>
            <a:ext cx="3063240" cy="91440"/>
          </a:xfrm>
          <a:prstGeom prst="rect">
            <a:avLst/>
          </a:prstGeom>
          <a:solidFill>
            <a:srgbClr val="FF776E"/>
          </a:solidFill>
          <a:ln w="12700">
            <a:solidFill>
              <a:srgbClr val="FF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682496"/>
            <a:ext cx="24688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EBBC4"/>
                </a:solidFill>
                <a:latin typeface="Aptos"/>
              </a:rPr>
              <a:t>PAGER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103120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3F5F2"/>
                </a:solidFill>
                <a:latin typeface="Aptos"/>
              </a:rPr>
              <a:t>checkout-api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33472"/>
            <a:ext cx="24688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76E"/>
                </a:solidFill>
                <a:latin typeface="Aptos"/>
              </a:rPr>
              <a:t>5xx rate rising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145536"/>
            <a:ext cx="2468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EBBC4"/>
                </a:solidFill>
                <a:latin typeface="Aptos"/>
              </a:rPr>
              <a:t>production  /  customer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4736592"/>
            <a:ext cx="10616184" cy="18288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138928"/>
            <a:ext cx="987552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BD59"/>
                </a:solidFill>
                <a:latin typeface="Aptos"/>
              </a:rPr>
              <a:t>A simple story about evidence, uncertainty, and a human decision.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6108192"/>
            <a:ext cx="57607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1808B"/>
                </a:solidFill>
                <a:latin typeface="Aptos"/>
              </a:rPr>
              <a:t>LIVE DEMO  /  10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2D6C2"/>
                </a:solidFill>
                <a:latin typeface="Aptos"/>
              </a:rPr>
              <a:t>THE PROBLEM  /  THE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5F2"/>
                </a:solidFill>
                <a:latin typeface="Aptos"/>
              </a:rPr>
              <a:t>Maya has signals everywhere - but no joined-up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EBBC4"/>
                </a:solidFill>
                <a:latin typeface="Aptos"/>
              </a:rPr>
              <a:t>AIOps Guardian Pro helps the on-call engineer move from scattered evidence to a safer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08B"/>
                </a:solidFill>
                <a:latin typeface="Aptos"/>
              </a:rPr>
              <a:t>AIOPS GUARDIAN PRO  |  MAYA'S INCIDENT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EBBC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19202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76E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12848"/>
            <a:ext cx="4617720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3F5F2"/>
                </a:solidFill>
                <a:latin typeface="Aptos"/>
              </a:rPr>
              <a:t>Incident diagnosis is slow because the evidence is scattered.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3346704"/>
            <a:ext cx="1892807" cy="603504"/>
          </a:xfrm>
          <a:prstGeom prst="rect">
            <a:avLst/>
          </a:prstGeom>
          <a:solidFill>
            <a:srgbClr val="1C2832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346704"/>
            <a:ext cx="50292" cy="603504"/>
          </a:xfrm>
          <a:prstGeom prst="rect">
            <a:avLst/>
          </a:prstGeom>
          <a:solidFill>
            <a:srgbClr val="42D6C2"/>
          </a:solidFill>
          <a:ln w="12700">
            <a:solidFill>
              <a:srgbClr val="42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410712"/>
            <a:ext cx="1572768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2"/>
                </a:solidFill>
                <a:latin typeface="Aptos"/>
              </a:rPr>
              <a:t>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666744"/>
            <a:ext cx="1572768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EBBC4"/>
                </a:solidFill>
                <a:latin typeface="Aptos"/>
              </a:rPr>
              <a:t>5xx / 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346704"/>
            <a:ext cx="1892807" cy="603504"/>
          </a:xfrm>
          <a:prstGeom prst="rect">
            <a:avLst/>
          </a:prstGeom>
          <a:solidFill>
            <a:srgbClr val="1C2832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0" y="3346704"/>
            <a:ext cx="50292" cy="603504"/>
          </a:xfrm>
          <a:prstGeom prst="rect">
            <a:avLst/>
          </a:prstGeom>
          <a:solidFill>
            <a:srgbClr val="72ABFF"/>
          </a:solidFill>
          <a:ln w="12700">
            <a:solidFill>
              <a:srgbClr val="72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8808" y="3410712"/>
            <a:ext cx="1572768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2"/>
                </a:solidFill>
                <a:latin typeface="Aptos"/>
              </a:rPr>
              <a:t>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3666744"/>
            <a:ext cx="1572768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EBBC4"/>
                </a:solidFill>
                <a:latin typeface="Aptos"/>
              </a:rPr>
              <a:t>deploys / config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4151376"/>
            <a:ext cx="1892807" cy="603504"/>
          </a:xfrm>
          <a:prstGeom prst="rect">
            <a:avLst/>
          </a:prstGeom>
          <a:solidFill>
            <a:srgbClr val="1C2832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" y="4151376"/>
            <a:ext cx="50292" cy="603504"/>
          </a:xfrm>
          <a:prstGeom prst="rect">
            <a:avLst/>
          </a:prstGeom>
          <a:solidFill>
            <a:srgbClr val="F4BD59"/>
          </a:solidFill>
          <a:ln w="12700">
            <a:solidFill>
              <a:srgbClr val="F4B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215384"/>
            <a:ext cx="1572768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2"/>
                </a:solidFill>
                <a:latin typeface="Aptos"/>
              </a:rPr>
              <a:t>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471416"/>
            <a:ext cx="1572768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EBBC4"/>
                </a:solidFill>
                <a:latin typeface="Aptos"/>
              </a:rPr>
              <a:t>pods / events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151376"/>
            <a:ext cx="1892807" cy="603504"/>
          </a:xfrm>
          <a:prstGeom prst="rect">
            <a:avLst/>
          </a:prstGeom>
          <a:solidFill>
            <a:srgbClr val="1C2832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4151376"/>
            <a:ext cx="50292" cy="603504"/>
          </a:xfrm>
          <a:prstGeom prst="rect">
            <a:avLst/>
          </a:prstGeom>
          <a:solidFill>
            <a:srgbClr val="C09BE8"/>
          </a:solidFill>
          <a:ln w="12700">
            <a:solidFill>
              <a:srgbClr val="C0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8808" y="4215384"/>
            <a:ext cx="1572768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2"/>
                </a:solidFill>
                <a:latin typeface="Aptos"/>
              </a:rPr>
              <a:t>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8808" y="4471416"/>
            <a:ext cx="1572768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EBBC4"/>
                </a:solidFill>
                <a:latin typeface="Aptos"/>
              </a:rPr>
              <a:t>cases / runbooks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1920240"/>
            <a:ext cx="18288" cy="3310128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1874519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2D6C2"/>
                </a:solidFill>
                <a:latin typeface="Aptos"/>
              </a:rPr>
              <a:t>THE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212848"/>
            <a:ext cx="457200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3F5F2"/>
                </a:solidFill>
                <a:latin typeface="Aptos"/>
              </a:rPr>
              <a:t>One investigation.
A human-owned decision.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383279"/>
            <a:ext cx="164592" cy="164592"/>
          </a:xfrm>
          <a:prstGeom prst="ellipse">
            <a:avLst/>
          </a:prstGeom>
          <a:solidFill>
            <a:srgbClr val="42D6C2"/>
          </a:solidFill>
          <a:ln w="12700">
            <a:solidFill>
              <a:srgbClr val="42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3319272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2D6C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7264" y="3319272"/>
            <a:ext cx="340156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EBBC4"/>
                </a:solidFill>
                <a:latin typeface="Aptos"/>
              </a:rPr>
              <a:t>Scoped metrics, runtime, changes, and history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041648"/>
            <a:ext cx="164592" cy="164592"/>
          </a:xfrm>
          <a:prstGeom prst="ellipse">
            <a:avLst/>
          </a:prstGeom>
          <a:solidFill>
            <a:srgbClr val="72ABFF"/>
          </a:solidFill>
          <a:ln w="12700">
            <a:solidFill>
              <a:srgbClr val="72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3977639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2ABFF"/>
                </a:solidFill>
                <a:latin typeface="Aptos"/>
              </a:rP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7264" y="3977639"/>
            <a:ext cx="340156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EBBC4"/>
                </a:solidFill>
                <a:latin typeface="Aptos"/>
              </a:rPr>
              <a:t>Evidence, uncertainty, and the next useful check</a:t>
            </a:r>
          </a:p>
        </p:txBody>
      </p:sp>
      <p:sp>
        <p:nvSpPr>
          <p:cNvPr id="36" name="Oval 35"/>
          <p:cNvSpPr/>
          <p:nvPr/>
        </p:nvSpPr>
        <p:spPr>
          <a:xfrm>
            <a:off x="6419088" y="4700016"/>
            <a:ext cx="164592" cy="164592"/>
          </a:xfrm>
          <a:prstGeom prst="ellipse">
            <a:avLst/>
          </a:prstGeom>
          <a:solidFill>
            <a:srgbClr val="F4BD59"/>
          </a:solidFill>
          <a:ln w="12700">
            <a:solidFill>
              <a:srgbClr val="F4B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4636008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BD59"/>
                </a:solidFill>
                <a:latin typeface="Aptos"/>
              </a:rPr>
              <a:t>Constrain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7264" y="4636008"/>
            <a:ext cx="340156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EBBC4"/>
                </a:solidFill>
                <a:latin typeface="Aptos"/>
              </a:rPr>
              <a:t>Deterministic guardrails; approval for risky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2D6C2"/>
                </a:solidFill>
                <a:latin typeface="Aptos"/>
              </a:rPr>
              <a:t>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5F2"/>
                </a:solidFill>
                <a:latin typeface="Aptos"/>
              </a:rPr>
              <a:t>One orchestrator connects agents to governed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EBBC4"/>
                </a:solidFill>
                <a:latin typeface="Aptos"/>
              </a:rPr>
              <a:t>The model helps interpret evidence; deterministic code controls operational authority.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08B"/>
                </a:solidFill>
                <a:latin typeface="Aptos"/>
              </a:rPr>
              <a:t>AIOPS GUARDIAN PRO  |  MAYA'S INCIDENT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EBBC4"/>
                </a:solidFill>
                <a:latin typeface="Apto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975104"/>
            <a:ext cx="1536192" cy="868680"/>
          </a:xfrm>
          <a:prstGeom prst="rect">
            <a:avLst/>
          </a:prstGeom>
          <a:solidFill>
            <a:srgbClr val="1C2832"/>
          </a:solidFill>
          <a:ln w="12700">
            <a:solidFill>
              <a:srgbClr val="3A4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75104"/>
            <a:ext cx="1536192" cy="64008"/>
          </a:xfrm>
          <a:prstGeom prst="rect">
            <a:avLst/>
          </a:prstGeom>
          <a:solidFill>
            <a:srgbClr val="72ABFF"/>
          </a:solidFill>
          <a:ln w="12700">
            <a:solidFill>
              <a:srgbClr val="72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48840"/>
            <a:ext cx="128016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2ABFF"/>
                </a:solidFill>
                <a:latin typeface="Aptos"/>
              </a:rPr>
              <a:t>ON-CALL SRE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14016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5F2"/>
                </a:solidFill>
                <a:latin typeface="Aptos"/>
              </a:rPr>
              <a:t>React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1975104"/>
            <a:ext cx="1755648" cy="868680"/>
          </a:xfrm>
          <a:prstGeom prst="rect">
            <a:avLst/>
          </a:prstGeom>
          <a:solidFill>
            <a:srgbClr val="1C2832"/>
          </a:solidFill>
          <a:ln w="12700">
            <a:solidFill>
              <a:srgbClr val="3A4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24912" y="1975104"/>
            <a:ext cx="1755648" cy="64008"/>
          </a:xfrm>
          <a:prstGeom prst="rect">
            <a:avLst/>
          </a:prstGeom>
          <a:solidFill>
            <a:srgbClr val="72ABFF"/>
          </a:solidFill>
          <a:ln w="12700">
            <a:solidFill>
              <a:srgbClr val="72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2148840"/>
            <a:ext cx="14996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2ABFF"/>
                </a:solidFill>
                <a:latin typeface="Aptos"/>
              </a:rPr>
              <a:t>APP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2414016"/>
            <a:ext cx="149961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5F2"/>
                </a:solidFill>
                <a:latin typeface="Aptos"/>
              </a:rPr>
              <a:t>FastAPI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6048" y="1975104"/>
            <a:ext cx="1901952" cy="868680"/>
          </a:xfrm>
          <a:prstGeom prst="rect">
            <a:avLst/>
          </a:prstGeom>
          <a:solidFill>
            <a:srgbClr val="1C2832"/>
          </a:solidFill>
          <a:ln w="12700">
            <a:solidFill>
              <a:srgbClr val="3A4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6048" y="1975104"/>
            <a:ext cx="1901952" cy="64008"/>
          </a:xfrm>
          <a:prstGeom prst="rect">
            <a:avLst/>
          </a:prstGeom>
          <a:solidFill>
            <a:srgbClr val="C09BE8"/>
          </a:solidFill>
          <a:ln w="12700">
            <a:solidFill>
              <a:srgbClr val="C0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2148840"/>
            <a:ext cx="1645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09BE8"/>
                </a:solidFill>
                <a:latin typeface="Aptos"/>
              </a:rPr>
              <a:t>ORCHESTRATE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414016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5F2"/>
                </a:solidFill>
                <a:latin typeface="Aptos"/>
              </a:rPr>
              <a:t>LangGraph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3488" y="1975104"/>
            <a:ext cx="1883664" cy="868680"/>
          </a:xfrm>
          <a:prstGeom prst="rect">
            <a:avLst/>
          </a:prstGeom>
          <a:solidFill>
            <a:srgbClr val="1C2832"/>
          </a:solidFill>
          <a:ln w="12700">
            <a:solidFill>
              <a:srgbClr val="3A4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3488" y="1975104"/>
            <a:ext cx="1883664" cy="64008"/>
          </a:xfrm>
          <a:prstGeom prst="rect">
            <a:avLst/>
          </a:prstGeom>
          <a:solidFill>
            <a:srgbClr val="42D6C2"/>
          </a:solidFill>
          <a:ln w="12700">
            <a:solidFill>
              <a:srgbClr val="42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2148840"/>
            <a:ext cx="162763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2D6C2"/>
                </a:solidFill>
                <a:latin typeface="Aptos"/>
              </a:rPr>
              <a:t>INVESTIGATE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414016"/>
            <a:ext cx="162763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5F2"/>
                </a:solidFill>
                <a:latin typeface="Aptos"/>
              </a:rPr>
              <a:t>Specialist agents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10928" y="1975104"/>
            <a:ext cx="1783080" cy="868680"/>
          </a:xfrm>
          <a:prstGeom prst="rect">
            <a:avLst/>
          </a:prstGeom>
          <a:solidFill>
            <a:srgbClr val="1C2832"/>
          </a:solidFill>
          <a:ln w="12700">
            <a:solidFill>
              <a:srgbClr val="3A4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0928" y="1975104"/>
            <a:ext cx="1783080" cy="64008"/>
          </a:xfrm>
          <a:prstGeom prst="rect">
            <a:avLst/>
          </a:prstGeom>
          <a:solidFill>
            <a:srgbClr val="F4BD59"/>
          </a:solidFill>
          <a:ln w="12700">
            <a:solidFill>
              <a:srgbClr val="F4B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38944" y="2148840"/>
            <a:ext cx="1527048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4BD59"/>
                </a:solidFill>
                <a:latin typeface="Aptos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8944" y="2414016"/>
            <a:ext cx="1527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5F2"/>
                </a:solidFill>
                <a:latin typeface="Aptos"/>
              </a:rPr>
              <a:t>MCP tool plane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2212848"/>
            <a:ext cx="274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2212848"/>
            <a:ext cx="274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2212848"/>
            <a:ext cx="274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2212848"/>
            <a:ext cx="274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182112"/>
            <a:ext cx="214884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EBBC4"/>
                </a:solidFill>
                <a:latin typeface="Aptos"/>
              </a:rPr>
              <a:t>REASONING + MEMORY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493008"/>
            <a:ext cx="1984248" cy="804672"/>
          </a:xfrm>
          <a:prstGeom prst="rect">
            <a:avLst/>
          </a:prstGeom>
          <a:solidFill>
            <a:srgbClr val="24323D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71216" y="3621024"/>
            <a:ext cx="17373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9BE8"/>
                </a:solidFill>
                <a:latin typeface="Aptos"/>
              </a:rPr>
              <a:t>Local 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71216" y="3922776"/>
            <a:ext cx="173736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EBBC4"/>
                </a:solidFill>
                <a:latin typeface="Aptos"/>
              </a:rPr>
              <a:t>Qwen via Ollama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40096" y="3493008"/>
            <a:ext cx="1984248" cy="804672"/>
          </a:xfrm>
          <a:prstGeom prst="rect">
            <a:avLst/>
          </a:prstGeom>
          <a:solidFill>
            <a:srgbClr val="24323D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68112" y="3621024"/>
            <a:ext cx="17373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2ABFF"/>
                </a:solidFill>
                <a:latin typeface="Aptos"/>
              </a:rPr>
              <a:t>Operational memory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922776"/>
            <a:ext cx="173736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EBBC4"/>
                </a:solidFill>
                <a:latin typeface="Aptos"/>
              </a:rPr>
              <a:t>PostgreSQL + FAISS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36992" y="3493008"/>
            <a:ext cx="1984248" cy="804672"/>
          </a:xfrm>
          <a:prstGeom prst="rect">
            <a:avLst/>
          </a:prstGeom>
          <a:solidFill>
            <a:srgbClr val="24323D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5008" y="3621024"/>
            <a:ext cx="17373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2D6C2"/>
                </a:solidFill>
                <a:latin typeface="Aptos"/>
              </a:rPr>
              <a:t>Observability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3922776"/>
            <a:ext cx="173736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EBBC4"/>
                </a:solidFill>
                <a:latin typeface="Aptos"/>
              </a:rPr>
              <a:t>Prometheus + Loki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04120" y="3493008"/>
            <a:ext cx="1984248" cy="804672"/>
          </a:xfrm>
          <a:prstGeom prst="rect">
            <a:avLst/>
          </a:prstGeom>
          <a:solidFill>
            <a:srgbClr val="24323D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32136" y="3621024"/>
            <a:ext cx="17373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BD59"/>
                </a:solidFill>
                <a:latin typeface="Aptos"/>
              </a:rPr>
              <a:t>Runtime + delivery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32136" y="3922776"/>
            <a:ext cx="173736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EBBC4"/>
                </a:solidFill>
                <a:latin typeface="Aptos"/>
              </a:rPr>
              <a:t>Kubernetes / 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1344" y="3182112"/>
            <a:ext cx="219456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808B"/>
                </a:solidFill>
                <a:latin typeface="Aptos"/>
              </a:rPr>
              <a:t>|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8" y="4736592"/>
            <a:ext cx="10469880" cy="850392"/>
          </a:xfrm>
          <a:prstGeom prst="rect">
            <a:avLst/>
          </a:prstGeom>
          <a:solidFill>
            <a:srgbClr val="302C24"/>
          </a:solidFill>
          <a:ln w="12700">
            <a:solidFill>
              <a:srgbClr val="72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4956048"/>
            <a:ext cx="1591056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BD59"/>
                </a:solidFill>
                <a:latin typeface="Aptos"/>
              </a:rPr>
              <a:t>SAFETY BOUNDARY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6624" y="4892040"/>
            <a:ext cx="8138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2"/>
                </a:solidFill>
                <a:latin typeface="Aptos"/>
              </a:rPr>
              <a:t>Recommendation  -&gt;  Python guardrails  -&gt;  ALLOW / REQUIRE APPROVAL / BLOCK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" y="5879592"/>
            <a:ext cx="96012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EBBC4"/>
                </a:solidFill>
                <a:latin typeface="Aptos"/>
              </a:rPr>
              <a:t>OpenTelemetry + Langfuse provide traces and audit context across the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2D6C2"/>
                </a:solidFill>
                <a:latin typeface="Aptos"/>
              </a:rPr>
              <a:t>THE INVESTIGATION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5F2"/>
                </a:solidFill>
                <a:latin typeface="Aptos"/>
              </a:rPr>
              <a:t>From alert to verified, human-owned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EBBC4"/>
                </a:solidFill>
                <a:latin typeface="Aptos"/>
              </a:rPr>
              <a:t>A bounded workflow: gather evidence first; only then decide what action is safe.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08B"/>
                </a:solidFill>
                <a:latin typeface="Aptos"/>
              </a:rPr>
              <a:t>AIOPS GUARDIAN PRO  |  MAYA'S INCIDENT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EBBC4"/>
                </a:solidFill>
                <a:latin typeface="Apto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048256"/>
            <a:ext cx="1847088" cy="1389888"/>
          </a:xfrm>
          <a:prstGeom prst="rect">
            <a:avLst/>
          </a:prstGeom>
          <a:solidFill>
            <a:srgbClr val="1C2832"/>
          </a:solidFill>
          <a:ln w="12700">
            <a:solidFill>
              <a:srgbClr val="3A4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221992"/>
            <a:ext cx="329184" cy="329184"/>
          </a:xfrm>
          <a:prstGeom prst="ellipse">
            <a:avLst/>
          </a:prstGeom>
          <a:solidFill>
            <a:srgbClr val="FF776E"/>
          </a:solidFill>
          <a:ln w="12700">
            <a:solidFill>
              <a:srgbClr val="FF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231136"/>
            <a:ext cx="32918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0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49424"/>
            <a:ext cx="111556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76E"/>
                </a:solidFill>
                <a:latin typeface="Aptos"/>
              </a:rPr>
              <a:t>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724912"/>
            <a:ext cx="1554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5F2"/>
                </a:solidFill>
                <a:latin typeface="Aptos"/>
              </a:rPr>
              <a:t>Incident
arrives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542032"/>
            <a:ext cx="2743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048256"/>
            <a:ext cx="1847088" cy="1389888"/>
          </a:xfrm>
          <a:prstGeom prst="rect">
            <a:avLst/>
          </a:prstGeom>
          <a:solidFill>
            <a:srgbClr val="1C2832"/>
          </a:solidFill>
          <a:ln w="12700">
            <a:solidFill>
              <a:srgbClr val="3A4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72384" y="2221992"/>
            <a:ext cx="329184" cy="329184"/>
          </a:xfrm>
          <a:prstGeom prst="ellipse">
            <a:avLst/>
          </a:prstGeom>
          <a:solidFill>
            <a:srgbClr val="72ABFF"/>
          </a:solidFill>
          <a:ln w="12700">
            <a:solidFill>
              <a:srgbClr val="72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72384" y="2231136"/>
            <a:ext cx="32918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0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249424"/>
            <a:ext cx="111556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2ABFF"/>
                </a:solidFill>
                <a:latin typeface="Aptos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2724912"/>
            <a:ext cx="1554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5F2"/>
                </a:solidFill>
                <a:latin typeface="Aptos"/>
              </a:rPr>
              <a:t>Choose scoped
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2542032"/>
            <a:ext cx="2743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38928" y="2048256"/>
            <a:ext cx="1847088" cy="1389888"/>
          </a:xfrm>
          <a:prstGeom prst="rect">
            <a:avLst/>
          </a:prstGeom>
          <a:solidFill>
            <a:srgbClr val="1C2832"/>
          </a:solidFill>
          <a:ln w="12700">
            <a:solidFill>
              <a:srgbClr val="3A4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85232" y="2221992"/>
            <a:ext cx="329184" cy="329184"/>
          </a:xfrm>
          <a:prstGeom prst="ellipse">
            <a:avLst/>
          </a:prstGeom>
          <a:solidFill>
            <a:srgbClr val="42D6C2"/>
          </a:solidFill>
          <a:ln w="12700">
            <a:solidFill>
              <a:srgbClr val="42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5232" y="2231136"/>
            <a:ext cx="32918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0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111556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2D6C2"/>
                </a:solidFill>
                <a:latin typeface="Aptos"/>
              </a:rPr>
              <a:t>CORRELATE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2724912"/>
            <a:ext cx="1554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5F2"/>
                </a:solidFill>
                <a:latin typeface="Aptos"/>
              </a:rPr>
              <a:t>Metrics + tools
+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542032"/>
            <a:ext cx="2743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51775" y="2048256"/>
            <a:ext cx="1847088" cy="1389888"/>
          </a:xfrm>
          <a:prstGeom prst="rect">
            <a:avLst/>
          </a:prstGeom>
          <a:solidFill>
            <a:srgbClr val="1C2832"/>
          </a:solidFill>
          <a:ln w="12700">
            <a:solidFill>
              <a:srgbClr val="3A4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98079" y="2221992"/>
            <a:ext cx="329184" cy="329184"/>
          </a:xfrm>
          <a:prstGeom prst="ellipse">
            <a:avLst/>
          </a:prstGeom>
          <a:solidFill>
            <a:srgbClr val="C09BE8"/>
          </a:solidFill>
          <a:ln w="12700">
            <a:solidFill>
              <a:srgbClr val="C0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2231136"/>
            <a:ext cx="32918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0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8703" y="2249424"/>
            <a:ext cx="111556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9BE8"/>
                </a:solidFill>
                <a:latin typeface="Aptos"/>
              </a:rPr>
              <a:t>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724912"/>
            <a:ext cx="1554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5F2"/>
                </a:solidFill>
                <a:latin typeface="Aptos"/>
              </a:rPr>
              <a:t>Cause supported?
Evidence sufficient?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2542032"/>
            <a:ext cx="2743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64624" y="2048256"/>
            <a:ext cx="1847088" cy="1389888"/>
          </a:xfrm>
          <a:prstGeom prst="rect">
            <a:avLst/>
          </a:prstGeom>
          <a:solidFill>
            <a:srgbClr val="1C2832"/>
          </a:solidFill>
          <a:ln w="12700">
            <a:solidFill>
              <a:srgbClr val="3A4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10928" y="2221992"/>
            <a:ext cx="329184" cy="329184"/>
          </a:xfrm>
          <a:prstGeom prst="ellipse">
            <a:avLst/>
          </a:prstGeom>
          <a:solidFill>
            <a:srgbClr val="F4BD59"/>
          </a:solidFill>
          <a:ln w="12700">
            <a:solidFill>
              <a:srgbClr val="F4B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0928" y="2231136"/>
            <a:ext cx="329184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0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31552" y="2249424"/>
            <a:ext cx="111556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BD59"/>
                </a:solidFill>
                <a:latin typeface="Aptos"/>
              </a:rPr>
              <a:t>GOVERN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2724912"/>
            <a:ext cx="1554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5F2"/>
                </a:solidFill>
                <a:latin typeface="Aptos"/>
              </a:rPr>
              <a:t>Policy routes
the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3950208"/>
            <a:ext cx="251460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EBBC4"/>
                </a:solidFill>
                <a:latin typeface="Aptos"/>
              </a:rPr>
              <a:t>IF EVIDENCE IS THIN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" y="4315968"/>
            <a:ext cx="4370832" cy="987552"/>
          </a:xfrm>
          <a:prstGeom prst="rect">
            <a:avLst/>
          </a:prstGeom>
          <a:solidFill>
            <a:srgbClr val="1C302F"/>
          </a:solidFill>
          <a:ln w="12700">
            <a:solidFill>
              <a:srgbClr val="2D7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5" y="4498848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2D6C2"/>
                </a:solidFill>
                <a:latin typeface="Aptos"/>
              </a:rPr>
              <a:t>READ-ONLY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67712" y="4462272"/>
            <a:ext cx="2633472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2"/>
                </a:solidFill>
                <a:latin typeface="Aptos"/>
              </a:rPr>
              <a:t>Ask for the next check; do not invent a cause.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9552" y="3950208"/>
            <a:ext cx="251460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EBBC4"/>
                </a:solidFill>
                <a:latin typeface="Aptos"/>
              </a:rPr>
              <a:t>IF A CHANGE IS RISKY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59552" y="4315968"/>
            <a:ext cx="5074920" cy="987552"/>
          </a:xfrm>
          <a:prstGeom prst="rect">
            <a:avLst/>
          </a:prstGeom>
          <a:solidFill>
            <a:srgbClr val="352C1A"/>
          </a:solidFill>
          <a:ln w="12700">
            <a:solidFill>
              <a:srgbClr val="8F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97296" y="4498848"/>
            <a:ext cx="1627632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BD59"/>
                </a:solidFill>
                <a:latin typeface="Aptos"/>
              </a:rPr>
              <a:t>HUMAN APPROVAL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462272"/>
            <a:ext cx="2852928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2"/>
                </a:solidFill>
                <a:latin typeface="Aptos"/>
              </a:rPr>
              <a:t>Approve or reject; then verify and audit.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74243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BD59"/>
                </a:solidFill>
                <a:latin typeface="Aptos"/>
              </a:rPr>
              <a:t>Maya remains the incident commander. Guardian shortens the search, not the chain of accountability.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2D6C2"/>
                </a:solidFill>
                <a:latin typeface="Aptos"/>
              </a:rPr>
              <a:t>MAYA'S STORY  /  THE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5F2"/>
                </a:solidFill>
                <a:latin typeface="Aptos"/>
              </a:rPr>
              <a:t>The alert is loud. The evidence is mixed.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EBBC4"/>
                </a:solidFill>
                <a:latin typeface="Aptos"/>
              </a:rPr>
              <a:t>Recorded forced run: 40 failed orders. The cause is not in the metrics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08B"/>
                </a:solidFill>
                <a:latin typeface="Aptos"/>
              </a:rPr>
              <a:t>AIOPS GUARDIAN PRO  |  MAYA'S INCIDENT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EBBC4"/>
                </a:solidFill>
                <a:latin typeface="Aptos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103120"/>
            <a:ext cx="3218688" cy="2011680"/>
          </a:xfrm>
          <a:prstGeom prst="rect">
            <a:avLst/>
          </a:prstGeom>
          <a:solidFill>
            <a:srgbClr val="1C2832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103120"/>
            <a:ext cx="3218688" cy="73152"/>
          </a:xfrm>
          <a:prstGeom prst="rect">
            <a:avLst/>
          </a:prstGeom>
          <a:solidFill>
            <a:srgbClr val="FF776E"/>
          </a:solidFill>
          <a:ln w="12700">
            <a:solidFill>
              <a:srgbClr val="FF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76148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776E"/>
                </a:solidFill>
                <a:latin typeface="Apto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163824"/>
            <a:ext cx="276148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2"/>
                </a:solidFill>
                <a:latin typeface="Aptos"/>
              </a:rPr>
              <a:t>HTTP 5xx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547872"/>
            <a:ext cx="2761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EBBC4"/>
                </a:solidFill>
                <a:latin typeface="Aptos"/>
              </a:rPr>
              <a:t>40 injected failures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2103120"/>
            <a:ext cx="3218688" cy="2011680"/>
          </a:xfrm>
          <a:prstGeom prst="rect">
            <a:avLst/>
          </a:prstGeom>
          <a:solidFill>
            <a:srgbClr val="1C2832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2103120"/>
            <a:ext cx="3218688" cy="73152"/>
          </a:xfrm>
          <a:prstGeom prst="rect">
            <a:avLst/>
          </a:prstGeom>
          <a:solidFill>
            <a:srgbClr val="F4BD59"/>
          </a:solidFill>
          <a:ln w="12700">
            <a:solidFill>
              <a:srgbClr val="F4B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468880"/>
            <a:ext cx="276148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4BD59"/>
                </a:solidFill>
                <a:latin typeface="Aptos"/>
              </a:rPr>
              <a:t>500x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163824"/>
            <a:ext cx="276148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2"/>
                </a:solidFill>
                <a:latin typeface="Aptos"/>
              </a:rPr>
              <a:t>Error-budget burn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547872"/>
            <a:ext cx="2761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EBBC4"/>
                </a:solidFill>
                <a:latin typeface="Aptos"/>
              </a:rPr>
              <a:t>Far above the 1x 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103120"/>
            <a:ext cx="3218688" cy="2011680"/>
          </a:xfrm>
          <a:prstGeom prst="rect">
            <a:avLst/>
          </a:prstGeom>
          <a:solidFill>
            <a:srgbClr val="1C2832"/>
          </a:solidFill>
          <a:ln w="12700">
            <a:solidFill>
              <a:srgbClr val="34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82127" y="2103120"/>
            <a:ext cx="3218688" cy="73152"/>
          </a:xfrm>
          <a:prstGeom prst="rect">
            <a:avLst/>
          </a:prstGeom>
          <a:solidFill>
            <a:srgbClr val="72ABFF"/>
          </a:solidFill>
          <a:ln w="12700">
            <a:solidFill>
              <a:srgbClr val="72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3" y="2468880"/>
            <a:ext cx="276148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72ABFF"/>
                </a:solidFill>
                <a:latin typeface="Aptos"/>
              </a:rPr>
              <a:t>487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3163824"/>
            <a:ext cx="276148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2"/>
                </a:solidFill>
                <a:latin typeface="Aptos"/>
              </a:rPr>
              <a:t>p95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3547872"/>
            <a:ext cx="2761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EBBC4"/>
                </a:solidFill>
                <a:latin typeface="Aptos"/>
              </a:rPr>
              <a:t>Below the 500 ms threshold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736592"/>
            <a:ext cx="10351008" cy="786384"/>
          </a:xfrm>
          <a:prstGeom prst="rect">
            <a:avLst/>
          </a:prstGeom>
          <a:solidFill>
            <a:srgbClr val="352C1A"/>
          </a:solidFill>
          <a:ln w="12700">
            <a:solidFill>
              <a:srgbClr val="8F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010912"/>
            <a:ext cx="932688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BD59"/>
                </a:solidFill>
                <a:latin typeface="Aptos"/>
              </a:rPr>
              <a:t>MISSING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937760"/>
            <a:ext cx="86868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2"/>
                </a:solidFill>
                <a:latin typeface="Aptos"/>
              </a:rPr>
              <a:t>No deployment, logs, or traces were collected for this live investigation.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870448"/>
            <a:ext cx="49377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808B"/>
                </a:solidFill>
                <a:latin typeface="Aptos"/>
              </a:rPr>
              <a:t>Recorded measurements: 2026-10-03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2D6C2"/>
                </a:solidFill>
                <a:latin typeface="Aptos"/>
              </a:rPr>
              <a:t>MAYA'S STORY  / 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5F2"/>
                </a:solidFill>
                <a:latin typeface="Aptos"/>
              </a:rPr>
              <a:t>Guardian refuses to guess.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EBBC4"/>
                </a:solidFill>
                <a:latin typeface="Aptos"/>
              </a:rPr>
              <a:t>It tells Maya what is known, what is missing, and what to check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08B"/>
                </a:solidFill>
                <a:latin typeface="Aptos"/>
              </a:rPr>
              <a:t>AIOPS GUARDIAN PRO  |  MAYA'S INCIDENT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EBBC4"/>
                </a:solidFill>
                <a:latin typeface="Aptos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938528"/>
            <a:ext cx="3730752" cy="3456432"/>
          </a:xfrm>
          <a:prstGeom prst="rect">
            <a:avLst/>
          </a:prstGeom>
          <a:solidFill>
            <a:srgbClr val="30242B"/>
          </a:solidFill>
          <a:ln w="12700">
            <a:solidFill>
              <a:srgbClr val="7B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2267712"/>
            <a:ext cx="306324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EBBC4"/>
                </a:solidFill>
                <a:latin typeface="Aptos"/>
              </a:rPr>
              <a:t>LIVE 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24912"/>
            <a:ext cx="31089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776E"/>
                </a:solidFill>
                <a:latin typeface="Aptos"/>
              </a:rPr>
              <a:t>NEEDS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3493008"/>
            <a:ext cx="30632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2"/>
                </a:solidFill>
                <a:latin typeface="Aptos"/>
              </a:rPr>
              <a:t>Root cause: unconfirmed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4041648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EBBC4"/>
                </a:solidFill>
                <a:latin typeface="Aptos"/>
              </a:rPr>
              <a:t>Confidence  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4489704"/>
            <a:ext cx="30632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2D6C2"/>
                </a:solidFill>
                <a:latin typeface="Aptos"/>
              </a:rPr>
              <a:t>Next action  collect_evidence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240280"/>
            <a:ext cx="42062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2ABFF"/>
                </a:solidFill>
                <a:latin typeface="Aptos"/>
              </a:rPr>
              <a:t>MAYA'S NEXT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724912"/>
            <a:ext cx="5669280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3F5F2"/>
                </a:solidFill>
                <a:latin typeface="Aptos"/>
              </a:rPr>
              <a:t>Check the deployment.
Correlate logs and traces.
Then decide.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8" y="4736592"/>
            <a:ext cx="5605272" cy="658368"/>
          </a:xfrm>
          <a:prstGeom prst="rect">
            <a:avLst/>
          </a:prstGeom>
          <a:solidFill>
            <a:srgbClr val="24323D"/>
          </a:solidFill>
          <a:ln w="12700">
            <a:solidFill>
              <a:srgbClr val="3A4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4928616"/>
            <a:ext cx="5029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BD59"/>
                </a:solidFill>
                <a:latin typeface="Aptos"/>
              </a:rPr>
              <a:t>For now: read-only. No production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2D6C2"/>
                </a:solidFill>
                <a:latin typeface="Aptos"/>
              </a:rPr>
              <a:t>MAYA'S STORY  /  A REPLAY, NOT LIVE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5F2"/>
                </a:solidFill>
                <a:latin typeface="Aptos"/>
              </a:rPr>
              <a:t>A past incident offers a lead - not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EBBC4"/>
                </a:solidFill>
                <a:latin typeface="Aptos"/>
              </a:rPr>
              <a:t>Maya switches to a controlled replay to show how retrieval helps.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08B"/>
                </a:solidFill>
                <a:latin typeface="Aptos"/>
              </a:rPr>
              <a:t>AIOPS GUARDIAN PRO  |  MAYA'S INCIDENT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EBBC4"/>
                </a:solidFill>
                <a:latin typeface="Apto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874519"/>
            <a:ext cx="10351008" cy="658368"/>
          </a:xfrm>
          <a:prstGeom prst="rect">
            <a:avLst/>
          </a:prstGeom>
          <a:solidFill>
            <a:srgbClr val="352C1A"/>
          </a:solidFill>
          <a:ln w="12700">
            <a:solidFill>
              <a:srgbClr val="8F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93976"/>
            <a:ext cx="19202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BD59"/>
                </a:solidFill>
                <a:latin typeface="Aptos"/>
              </a:rPr>
              <a:t>SIMULATED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48256"/>
            <a:ext cx="62179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5F2"/>
                </a:solidFill>
                <a:latin typeface="Aptos"/>
              </a:rPr>
              <a:t>Not the cause of the live incident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71800"/>
            <a:ext cx="2880360" cy="1481328"/>
          </a:xfrm>
          <a:prstGeom prst="rect">
            <a:avLst/>
          </a:prstGeom>
          <a:solidFill>
            <a:srgbClr val="1C2832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209544"/>
            <a:ext cx="2432304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2ABFF"/>
                </a:solidFill>
                <a:latin typeface="Aptos"/>
              </a:rP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584448"/>
            <a:ext cx="2432304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2"/>
                </a:solidFill>
                <a:latin typeface="Aptos"/>
              </a:rPr>
              <a:t>1Gi -&gt; 128Mi
memory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547872"/>
            <a:ext cx="34747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8576" y="2971800"/>
            <a:ext cx="2880360" cy="1481328"/>
          </a:xfrm>
          <a:prstGeom prst="rect">
            <a:avLst/>
          </a:prstGeom>
          <a:solidFill>
            <a:srgbClr val="1C2832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3209544"/>
            <a:ext cx="2432304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76E"/>
                </a:solidFill>
                <a:latin typeface="Aptos"/>
              </a:rPr>
              <a:t>SYMPTOM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584448"/>
            <a:ext cx="2432304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2"/>
                </a:solidFill>
                <a:latin typeface="Aptos"/>
              </a:rPr>
              <a:t>Pods restart
OOMKilled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6" y="3547872"/>
            <a:ext cx="34747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02752" y="2971800"/>
            <a:ext cx="2880360" cy="1481328"/>
          </a:xfrm>
          <a:prstGeom prst="rect">
            <a:avLst/>
          </a:prstGeom>
          <a:solidFill>
            <a:srgbClr val="1C2832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3209544"/>
            <a:ext cx="2432304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9BE8"/>
                </a:solidFill>
                <a:latin typeface="Aptos"/>
              </a:rPr>
              <a:t>PAST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584448"/>
            <a:ext cx="2432304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2"/>
                </a:solidFill>
                <a:latin typeface="Aptos"/>
              </a:rPr>
              <a:t>SYN-K8S-001
matched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956048"/>
            <a:ext cx="96926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2D6C2"/>
                </a:solidFill>
                <a:latin typeface="Aptos"/>
              </a:rPr>
              <a:t>The runbook suggests restoring a validated memory limit.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2D6C2"/>
                </a:solidFill>
                <a:latin typeface="Aptos"/>
              </a:rPr>
              <a:t>MAYA'S STORY  /  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5F2"/>
                </a:solidFill>
                <a:latin typeface="Aptos"/>
              </a:rPr>
              <a:t>The rollback waits for Maya.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EBBC4"/>
                </a:solidFill>
                <a:latin typeface="Aptos"/>
              </a:rPr>
              <a:t>Guardian can recommend; deterministic policy decides what is allowed.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1018520" cy="13716"/>
          </a:xfrm>
          <a:prstGeom prst="rect">
            <a:avLst/>
          </a:prstGeom>
          <a:solidFill>
            <a:srgbClr val="384650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1808B"/>
                </a:solidFill>
                <a:latin typeface="Aptos"/>
              </a:rPr>
              <a:t>AIOPS GUARDIAN PRO  |  MAYA'S INCIDENT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EBBC4"/>
                </a:solidFill>
                <a:latin typeface="Aptos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395728"/>
            <a:ext cx="2889504" cy="1700784"/>
          </a:xfrm>
          <a:prstGeom prst="rect">
            <a:avLst/>
          </a:prstGeom>
          <a:solidFill>
            <a:srgbClr val="1C2832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395728"/>
            <a:ext cx="2889504" cy="73152"/>
          </a:xfrm>
          <a:prstGeom prst="rect">
            <a:avLst/>
          </a:prstGeom>
          <a:solidFill>
            <a:srgbClr val="72ABFF"/>
          </a:solidFill>
          <a:ln w="12700">
            <a:solidFill>
              <a:srgbClr val="72A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706624"/>
            <a:ext cx="2432304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2ABFF"/>
                </a:solidFill>
                <a:latin typeface="Aptos"/>
              </a:rPr>
              <a:t>GUARDIAN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127248"/>
            <a:ext cx="2432304" cy="6949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5F2"/>
                </a:solidFill>
                <a:latin typeface="Aptos"/>
              </a:rPr>
              <a:t>Recommend
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3081528"/>
            <a:ext cx="347472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395728"/>
            <a:ext cx="2889504" cy="1700784"/>
          </a:xfrm>
          <a:prstGeom prst="rect">
            <a:avLst/>
          </a:prstGeom>
          <a:solidFill>
            <a:srgbClr val="1C2832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395728"/>
            <a:ext cx="2889504" cy="73152"/>
          </a:xfrm>
          <a:prstGeom prst="rect">
            <a:avLst/>
          </a:prstGeom>
          <a:solidFill>
            <a:srgbClr val="F4BD59"/>
          </a:solidFill>
          <a:ln w="12700">
            <a:solidFill>
              <a:srgbClr val="F4B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706624"/>
            <a:ext cx="2432304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BD59"/>
                </a:solidFill>
                <a:latin typeface="Aptos"/>
              </a:rP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3127248"/>
            <a:ext cx="2432304" cy="6949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5F2"/>
                </a:solidFill>
                <a:latin typeface="Aptos"/>
              </a:rPr>
              <a:t>Require
human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3081528"/>
            <a:ext cx="347472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71808B"/>
                </a:solidFill>
                <a:latin typeface="Aptos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02752" y="2395728"/>
            <a:ext cx="2889504" cy="1700784"/>
          </a:xfrm>
          <a:prstGeom prst="rect">
            <a:avLst/>
          </a:prstGeom>
          <a:solidFill>
            <a:srgbClr val="1C2832"/>
          </a:solidFill>
          <a:ln w="12700">
            <a:solidFill>
              <a:srgbClr val="38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02752" y="2395728"/>
            <a:ext cx="2889504" cy="73152"/>
          </a:xfrm>
          <a:prstGeom prst="rect">
            <a:avLst/>
          </a:prstGeom>
          <a:solidFill>
            <a:srgbClr val="42D6C2"/>
          </a:solidFill>
          <a:ln w="12700">
            <a:solidFill>
              <a:srgbClr val="42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706624"/>
            <a:ext cx="2432304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2D6C2"/>
                </a:solidFill>
                <a:latin typeface="Aptos"/>
              </a:rPr>
              <a:t>MAYA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127248"/>
            <a:ext cx="2432304" cy="6949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5F2"/>
                </a:solidFill>
                <a:latin typeface="Aptos"/>
              </a:rPr>
              <a:t>Review, then
approve or reject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4709160"/>
            <a:ext cx="10351008" cy="804672"/>
          </a:xfrm>
          <a:prstGeom prst="rect">
            <a:avLst/>
          </a:prstGeom>
          <a:solidFill>
            <a:srgbClr val="1C302F"/>
          </a:solidFill>
          <a:ln w="12700">
            <a:solidFill>
              <a:srgbClr val="2D7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148132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2D6C2"/>
                </a:solidFill>
                <a:latin typeface="Aptos"/>
              </a:rPr>
              <a:t>RECORDED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4919472"/>
            <a:ext cx="7955279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2"/>
                </a:solidFill>
                <a:latin typeface="Aptos"/>
              </a:rPr>
              <a:t>Approval was created. The action was NOT executed.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80644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BD59"/>
                </a:solidFill>
                <a:latin typeface="Aptos"/>
              </a:rPr>
              <a:t>Maya leaves with evidence, a next check, and authority still in human hands.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AIOps Guardian Pro - Incident Story</dc:title>
  <dc:subject>A simple story of evidence-first incident response</dc:subject>
  <dc:creator>AIOps Guardian Pro</dc:creator>
  <cp:keywords>AIOps, incident response, Prometheus, guardrails, demo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