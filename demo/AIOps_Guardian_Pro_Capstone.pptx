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5"/>
  </p:normalViewPr>
  <p:slideViewPr>
    <p:cSldViewPr snapToGrid="0">
      <p:cViewPr varScale="1">
        <p:scale>
          <a:sx n="118" d="100"/>
          <a:sy n="118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morning, everyone. Today I’m presenting my capstone project, AIOps Guardian Pro, an AI-assisted investigation platform for SRE and cloud operations teams.</a:t>
            </a:r>
          </a:p>
          <a:p>
            <a:endParaRPr/>
          </a:p>
          <a:p>
            <a:r>
              <a:t>The project grew beyond my initial scope, but I kept the additional components to demonstrate a realistic SRE workflow. I’ll briefly cover the use case, technology stack, architecture, and a demo.</a:t>
            </a:r>
          </a:p>
          <a:p>
            <a:endParaRPr/>
          </a:p>
          <a:p>
            <a:r>
              <a:t>Source: Presenter-provided shortened capstone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Imagine an on-call engineer receives an alert that checkout requests are failing after a deployment. Finding the cause requires gathering evidence from metrics, logs, deployment history, and runbooks.</a:t>
            </a:r>
          </a:p>
          <a:p>
            <a:endParaRPr/>
          </a:p>
          <a:p>
            <a:r>
              <a:t>I designed Guardian to support that investigation through a conversational interface. It reviews available evidence, asks clarifying questions, and suggests the next useful check.</a:t>
            </a:r>
          </a:p>
          <a:p>
            <a:endParaRPr/>
          </a:p>
          <a:p>
            <a:r>
              <a:t>Source: Presenter-provided shortened capstone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the technology stack, I use React for the frontend and Python with FastAPI for the backend. LangGraph coordinates specialist agents, while MCP connects them to operational tools.</a:t>
            </a:r>
          </a:p>
          <a:p>
            <a:endParaRPr/>
          </a:p>
          <a:p>
            <a:r>
              <a:t>PostgreSQL stores operational records and conversations, and FAISS supports knowledge retrieval. A local Qwen model through Ollama supports conversational reasoning. I use Prometheus and Grafana for monitoring and visualization, with the application running in Kubernetes.</a:t>
            </a:r>
          </a:p>
          <a:p>
            <a:endParaRPr/>
          </a:p>
          <a:p>
            <a:r>
              <a:t>Source: Presenter-provided shortened capstone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Architecturally, the flow starts with an engineer’s question. Guardian identifies the application and environment, gathers relevant evidence, and uses the conversation context to explain findings or request more information.</a:t>
            </a:r>
          </a:p>
          <a:p>
            <a:endParaRPr/>
          </a:p>
          <a:p>
            <a:r>
              <a:t>[Pause briefly to trace the four stages.]</a:t>
            </a:r>
          </a:p>
          <a:p>
            <a:endParaRPr/>
          </a:p>
          <a:p>
            <a:r>
              <a:t>Source: Presenter-provided shortened capstone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kept the guardrail layer separate from the reasoning layer. The model can recommend an action, but risky changes require human approval. Any executed action must also be verified and recorded.</a:t>
            </a:r>
          </a:p>
          <a:p>
            <a:endParaRPr/>
          </a:p>
          <a:p>
            <a:r>
              <a:t>[If showing the approval queue, explain that a request does not mean execution.]</a:t>
            </a:r>
          </a:p>
          <a:p>
            <a:endParaRPr/>
          </a:p>
          <a:p>
            <a:r>
              <a:t>Source: Presenter-provided shortened capstone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this demonstration, I use a local checkout application with live Prometheus measurements. I’ll also show a clearly labelled simulated memory-failure scenario to illustrate knowledge retrieval and approval policies.</a:t>
            </a:r>
          </a:p>
          <a:p>
            <a:endParaRPr/>
          </a:p>
          <a:p>
            <a:r>
              <a:t>The goal is to help engineers investigate more efficiently while keeping uncertainty visible and operational decisions under human control.</a:t>
            </a:r>
          </a:p>
          <a:p>
            <a:endParaRPr/>
          </a:p>
          <a:p>
            <a:r>
              <a:t>With that overview, I’ll now walk through the checkout incident.</a:t>
            </a:r>
          </a:p>
          <a:p>
            <a:endParaRPr/>
          </a:p>
          <a:p>
            <a:r>
              <a:t>[Open the local Guardian interface. Keep live measurements separate from simulated evidence.]</a:t>
            </a:r>
          </a:p>
          <a:p>
            <a:endParaRPr/>
          </a:p>
          <a:p>
            <a:r>
              <a:t>Source: Presenter-provided shortened capstone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F98A02-D385-412D-BBED-A903047092A7}"/>
              </a:ext>
            </a:extLst>
          </p:cNvPr>
          <p:cNvSpPr>
            <a:spLocks noGrp="1"/>
          </p:cNvSpPr>
          <p:nvPr/>
        </p:nvSpPr>
        <p:spPr>
          <a:xfrm>
            <a:off x="9987643" y="6196014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60DB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0DBD1"/>
                </a:solidFill>
                <a:latin typeface="Helvetica Neue"/>
                <a:ea typeface="Helvetica Neue"/>
                <a:cs typeface="Helvetica Neue"/>
              </a:rPr>
              <a:t>Capstone project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1157EB-F271-4840-9565-6BA19BAB29BF}"/>
              </a:ext>
            </a:extLst>
          </p:cNvPr>
          <p:cNvSpPr>
            <a:spLocks noGrp="1"/>
          </p:cNvSpPr>
          <p:nvPr/>
        </p:nvSpPr>
        <p:spPr>
          <a:xfrm>
            <a:off x="979714" y="1155926"/>
            <a:ext cx="10668000" cy="2076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150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AIOps</a:t>
            </a:r>
          </a:p>
          <a:p>
            <a:pPr>
              <a:defRPr sz="6150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Guardian Pro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E7042D-75E1-4C07-9496-EDAB308DF34E}"/>
              </a:ext>
            </a:extLst>
          </p:cNvPr>
          <p:cNvSpPr>
            <a:spLocks noGrp="1"/>
          </p:cNvSpPr>
          <p:nvPr/>
        </p:nvSpPr>
        <p:spPr>
          <a:xfrm>
            <a:off x="979714" y="3113315"/>
            <a:ext cx="99060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rPr>
              <a:t>AI-assisted investigation for SRE</a:t>
            </a:r>
          </a:p>
          <a:p>
            <a:pPr>
              <a:defRPr sz="255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rPr>
              <a:t>and cloud operations teams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C580F8-2FDD-F82A-D2AE-FE8ABDFAE4B3}"/>
              </a:ext>
            </a:extLst>
          </p:cNvPr>
          <p:cNvSpPr>
            <a:spLocks noGrp="1"/>
          </p:cNvSpPr>
          <p:nvPr/>
        </p:nvSpPr>
        <p:spPr>
          <a:xfrm>
            <a:off x="979714" y="5389791"/>
            <a:ext cx="6019800" cy="68103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55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rPr>
              <a:t>Presented By : Dani Chakiath Varghese</a:t>
            </a:r>
            <a:endParaRPr sz="2550" b="0">
              <a:solidFill>
                <a:srgbClr val="BAC8DA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3968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14EA90F-DFB4-4AD5-B228-5C20B6F898DC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Checkout incident use case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A025DD-7E98-459E-8309-2D73B1E655B6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FFA244-0A17-404E-98AF-6BBB6D7C5C87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647700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525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Checkout requests fail</a:t>
            </a:r>
          </a:p>
          <a:p>
            <a:pPr>
              <a:defRPr sz="3525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after a deployment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621B5A-2B47-4BEC-8F04-B1FB27D785E1}"/>
              </a:ext>
            </a:extLst>
          </p:cNvPr>
          <p:cNvSpPr>
            <a:spLocks noGrp="1"/>
          </p:cNvSpPr>
          <p:nvPr/>
        </p:nvSpPr>
        <p:spPr>
          <a:xfrm>
            <a:off x="723900" y="3219450"/>
            <a:ext cx="61912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rPr>
              <a:t>An engineer needs evidence</a:t>
            </a:r>
          </a:p>
          <a:p>
            <a:pPr>
              <a:defRPr sz="240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rPr>
              <a:t>to narrow the cause.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AED9C2-9B7B-4E7F-AC69-F6F7B330E57B}"/>
              </a:ext>
            </a:extLst>
          </p:cNvPr>
          <p:cNvSpPr>
            <a:spLocks noGrp="1"/>
          </p:cNvSpPr>
          <p:nvPr/>
        </p:nvSpPr>
        <p:spPr>
          <a:xfrm>
            <a:off x="8001000" y="172402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60DB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60DBD1"/>
                </a:solidFill>
                <a:latin typeface="Helvetica Neue"/>
                <a:ea typeface="Helvetica Neue"/>
                <a:cs typeface="Helvetica Neue"/>
              </a:rPr>
              <a:t>Evidence to inspect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4B90F8-AC72-4110-9CF9-3604F52635B5}"/>
              </a:ext>
            </a:extLst>
          </p:cNvPr>
          <p:cNvSpPr>
            <a:spLocks noGrp="1"/>
          </p:cNvSpPr>
          <p:nvPr/>
        </p:nvSpPr>
        <p:spPr>
          <a:xfrm>
            <a:off x="8001000" y="2362200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2D2D1C-2213-4A8E-A119-992240AA4416}"/>
              </a:ext>
            </a:extLst>
          </p:cNvPr>
          <p:cNvSpPr>
            <a:spLocks noGrp="1"/>
          </p:cNvSpPr>
          <p:nvPr/>
        </p:nvSpPr>
        <p:spPr>
          <a:xfrm>
            <a:off x="8001000" y="2952750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Logs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9459BE-F60B-48D4-8E35-A0B677F86618}"/>
              </a:ext>
            </a:extLst>
          </p:cNvPr>
          <p:cNvSpPr>
            <a:spLocks noGrp="1"/>
          </p:cNvSpPr>
          <p:nvPr/>
        </p:nvSpPr>
        <p:spPr>
          <a:xfrm>
            <a:off x="8001000" y="3543300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Deployment history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E54C14-F4F3-40D8-BA9E-766EF1B0E9CF}"/>
              </a:ext>
            </a:extLst>
          </p:cNvPr>
          <p:cNvSpPr>
            <a:spLocks noGrp="1"/>
          </p:cNvSpPr>
          <p:nvPr/>
        </p:nvSpPr>
        <p:spPr>
          <a:xfrm>
            <a:off x="8001000" y="4133850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Runbooks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817D7E-0DD3-4243-AA24-FBB3B2A0FB70}"/>
              </a:ext>
            </a:extLst>
          </p:cNvPr>
          <p:cNvSpPr>
            <a:spLocks noGrp="1"/>
          </p:cNvSpPr>
          <p:nvPr/>
        </p:nvSpPr>
        <p:spPr>
          <a:xfrm>
            <a:off x="723900" y="5257800"/>
            <a:ext cx="102870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0">
                <a:solidFill>
                  <a:srgbClr val="60DB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60DBD1"/>
                </a:solidFill>
                <a:latin typeface="Helvetica Neue"/>
                <a:ea typeface="Helvetica Neue"/>
                <a:cs typeface="Helvetica Neue"/>
              </a:rPr>
              <a:t>Guardian retains context and asks clarifying questions.</a:t>
            </a:r>
          </a:p>
        </p:txBody>
      </p:sp>
    </p:spTree>
    <p:extLst>
      <p:ext uri="{BB962C8B-B14F-4D97-AF65-F5344CB8AC3E}">
        <p14:creationId xmlns:p14="http://schemas.microsoft.com/office/powerpoint/2010/main" val="148964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A426E4-367B-42FD-A085-E4A85B40A916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Technology stack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02C3EE-B974-421C-B66D-426F0FBDD700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6" name="Table 5"/>
          <p:cNvGraphicFramePr/>
          <p:nvPr/>
        </p:nvGraphicFramePr>
        <p:xfrm>
          <a:off x="723900" y="1685925"/>
          <a:ext cx="10744200" cy="4200525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0DBD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Responsibility</a:t>
                      </a:r>
                    </a:p>
                  </a:txBody>
                  <a:tcPr marL="171450" marR="171450" marT="114300" marB="114300">
                    <a:solidFill>
                      <a:srgbClr val="2036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0DBD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Technology</a:t>
                      </a:r>
                    </a:p>
                  </a:txBody>
                  <a:tcPr marL="171450" marR="171450" marT="114300" marB="114300">
                    <a:solidFill>
                      <a:srgbClr val="203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4F7F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 interface</a:t>
                      </a:r>
                    </a:p>
                  </a:txBody>
                  <a:tcPr marL="171450" marR="171450" marT="114300" marB="114300">
                    <a:solidFill>
                      <a:srgbClr val="0B14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4F7F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React</a:t>
                      </a:r>
                    </a:p>
                  </a:txBody>
                  <a:tcPr marL="171450" marR="171450" marT="114300" marB="114300">
                    <a:solidFill>
                      <a:srgbClr val="0B14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4F7F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Backend APIs</a:t>
                      </a:r>
                    </a:p>
                  </a:txBody>
                  <a:tcPr marL="171450" marR="171450" marT="114300" marB="114300">
                    <a:solidFill>
                      <a:srgbClr val="0B14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4F7F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Python and FastAPI</a:t>
                      </a:r>
                    </a:p>
                  </a:txBody>
                  <a:tcPr marL="171450" marR="171450" marT="114300" marB="114300">
                    <a:solidFill>
                      <a:srgbClr val="0B14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4F7F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Agent coordination and tools</a:t>
                      </a:r>
                    </a:p>
                  </a:txBody>
                  <a:tcPr marL="171450" marR="171450" marT="114300" marB="114300">
                    <a:solidFill>
                      <a:srgbClr val="0B14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4F7F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LangGraph and MCP</a:t>
                      </a:r>
                    </a:p>
                  </a:txBody>
                  <a:tcPr marL="171450" marR="171450" marT="114300" marB="114300">
                    <a:solidFill>
                      <a:srgbClr val="0B14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4F7F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Records and knowledge retrieval</a:t>
                      </a:r>
                    </a:p>
                  </a:txBody>
                  <a:tcPr marL="171450" marR="171450" marT="114300" marB="114300">
                    <a:solidFill>
                      <a:srgbClr val="0B14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4F7F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PostgreSQL and FAISS</a:t>
                      </a:r>
                    </a:p>
                  </a:txBody>
                  <a:tcPr marL="171450" marR="171450" marT="114300" marB="114300">
                    <a:solidFill>
                      <a:srgbClr val="0B14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4F7F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Conversational reasoning</a:t>
                      </a:r>
                    </a:p>
                  </a:txBody>
                  <a:tcPr marL="171450" marR="171450" marT="114300" marB="114300">
                    <a:solidFill>
                      <a:srgbClr val="0B14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4F7F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Qwen through Ollama</a:t>
                      </a:r>
                    </a:p>
                  </a:txBody>
                  <a:tcPr marL="171450" marR="171450" marT="114300" marB="114300">
                    <a:solidFill>
                      <a:srgbClr val="0B14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4F7F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Observability and runtime</a:t>
                      </a:r>
                    </a:p>
                  </a:txBody>
                  <a:tcPr marL="171450" marR="171450" marT="114300" marB="114300">
                    <a:solidFill>
                      <a:srgbClr val="0B14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4F7F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Prometheus, Grafana and Kubernetes</a:t>
                      </a:r>
                    </a:p>
                  </a:txBody>
                  <a:tcPr marL="171450" marR="171450" marT="114300" marB="114300">
                    <a:solidFill>
                      <a:srgbClr val="0B14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9979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D4720DF-5959-4358-AEDA-9B9922EA4F66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Investigation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0149EC-D055-472D-8216-777F8795EA52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C3B045-BC70-42FC-B87E-D80267536105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619125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0">
                <a:solidFill>
                  <a:srgbClr val="60DB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60DBD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7EF441-F8C3-4617-B3FC-35646CBD27E9}"/>
              </a:ext>
            </a:extLst>
          </p:cNvPr>
          <p:cNvSpPr>
            <a:spLocks noGrp="1"/>
          </p:cNvSpPr>
          <p:nvPr/>
        </p:nvSpPr>
        <p:spPr>
          <a:xfrm>
            <a:off x="1619250" y="1695450"/>
            <a:ext cx="2190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Scope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7E2B3B-5A2C-42F9-AB94-25804A4138FB}"/>
              </a:ext>
            </a:extLst>
          </p:cNvPr>
          <p:cNvSpPr>
            <a:spLocks noGrp="1"/>
          </p:cNvSpPr>
          <p:nvPr/>
        </p:nvSpPr>
        <p:spPr>
          <a:xfrm>
            <a:off x="4191000" y="1724025"/>
            <a:ext cx="72199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rPr>
              <a:t>Identify the application, environment and namespace.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64C53B-35FC-4492-B5B5-98D7EE7C96DF}"/>
              </a:ext>
            </a:extLst>
          </p:cNvPr>
          <p:cNvSpPr>
            <a:spLocks noGrp="1"/>
          </p:cNvSpPr>
          <p:nvPr/>
        </p:nvSpPr>
        <p:spPr>
          <a:xfrm>
            <a:off x="723900" y="2705100"/>
            <a:ext cx="619125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0">
                <a:solidFill>
                  <a:srgbClr val="60DB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60DBD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D9A2ED-09DE-415D-99B7-3A05DD56BD41}"/>
              </a:ext>
            </a:extLst>
          </p:cNvPr>
          <p:cNvSpPr>
            <a:spLocks noGrp="1"/>
          </p:cNvSpPr>
          <p:nvPr/>
        </p:nvSpPr>
        <p:spPr>
          <a:xfrm>
            <a:off x="1619250" y="2705100"/>
            <a:ext cx="2190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Collect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154AF2-49BA-4839-BCB9-FC5518213760}"/>
              </a:ext>
            </a:extLst>
          </p:cNvPr>
          <p:cNvSpPr>
            <a:spLocks noGrp="1"/>
          </p:cNvSpPr>
          <p:nvPr/>
        </p:nvSpPr>
        <p:spPr>
          <a:xfrm>
            <a:off x="4191000" y="2733675"/>
            <a:ext cx="72199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rPr>
              <a:t>Gather available evidence through specialist tools.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D67F07-01E5-4F85-A501-1B9AD8DC1480}"/>
              </a:ext>
            </a:extLst>
          </p:cNvPr>
          <p:cNvSpPr>
            <a:spLocks noGrp="1"/>
          </p:cNvSpPr>
          <p:nvPr/>
        </p:nvSpPr>
        <p:spPr>
          <a:xfrm>
            <a:off x="723900" y="3714750"/>
            <a:ext cx="619125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0">
                <a:solidFill>
                  <a:srgbClr val="60DB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60DBD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E76F0-E438-4A7E-B9D7-AF4BCC3AFEE2}"/>
              </a:ext>
            </a:extLst>
          </p:cNvPr>
          <p:cNvSpPr>
            <a:spLocks noGrp="1"/>
          </p:cNvSpPr>
          <p:nvPr/>
        </p:nvSpPr>
        <p:spPr>
          <a:xfrm>
            <a:off x="1619250" y="3714750"/>
            <a:ext cx="2190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Reason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157305-D179-486A-9678-861AD5A54E77}"/>
              </a:ext>
            </a:extLst>
          </p:cNvPr>
          <p:cNvSpPr>
            <a:spLocks noGrp="1"/>
          </p:cNvSpPr>
          <p:nvPr/>
        </p:nvSpPr>
        <p:spPr>
          <a:xfrm>
            <a:off x="4191000" y="3743325"/>
            <a:ext cx="72199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rPr>
              <a:t>Explain findings using evidence and conversation history.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D19F0B-0113-4A66-9CA5-F9971F934FA9}"/>
              </a:ext>
            </a:extLst>
          </p:cNvPr>
          <p:cNvSpPr>
            <a:spLocks noGrp="1"/>
          </p:cNvSpPr>
          <p:nvPr/>
        </p:nvSpPr>
        <p:spPr>
          <a:xfrm>
            <a:off x="723900" y="4724400"/>
            <a:ext cx="619125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0">
                <a:solidFill>
                  <a:srgbClr val="60DB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60DBD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4D3C04-0D6A-4927-89DE-165CD3F32BBF}"/>
              </a:ext>
            </a:extLst>
          </p:cNvPr>
          <p:cNvSpPr>
            <a:spLocks noGrp="1"/>
          </p:cNvSpPr>
          <p:nvPr/>
        </p:nvSpPr>
        <p:spPr>
          <a:xfrm>
            <a:off x="1619250" y="4724400"/>
            <a:ext cx="2190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Clarify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951CE0-0FFE-4893-BC88-FAE11B41FFB5}"/>
              </a:ext>
            </a:extLst>
          </p:cNvPr>
          <p:cNvSpPr>
            <a:spLocks noGrp="1"/>
          </p:cNvSpPr>
          <p:nvPr/>
        </p:nvSpPr>
        <p:spPr>
          <a:xfrm>
            <a:off x="4191000" y="4752975"/>
            <a:ext cx="72199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rPr>
              <a:t>Ask for missing details and retain the engineer’s answers.</a:t>
            </a:r>
          </a:p>
        </p:txBody>
      </p:sp>
    </p:spTree>
    <p:extLst>
      <p:ext uri="{BB962C8B-B14F-4D97-AF65-F5344CB8AC3E}">
        <p14:creationId xmlns:p14="http://schemas.microsoft.com/office/powerpoint/2010/main" val="1954230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5C6F81B-FA43-4AD8-9BFC-1E900F07C193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Human control and verification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721771-3241-4828-87EA-3F3B7BB29442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71B5A1-CA64-45F1-8D16-A28D99AFD670}"/>
              </a:ext>
            </a:extLst>
          </p:cNvPr>
          <p:cNvSpPr>
            <a:spLocks noGrp="1"/>
          </p:cNvSpPr>
          <p:nvPr/>
        </p:nvSpPr>
        <p:spPr>
          <a:xfrm>
            <a:off x="723900" y="1800225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60DB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60DBD1"/>
                </a:solidFill>
                <a:latin typeface="Helvetica Neue"/>
                <a:ea typeface="Helvetica Neue"/>
                <a:cs typeface="Helvetica Neue"/>
              </a:rPr>
              <a:t>Reasoning layer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9F49E1-6953-4C38-AF2F-0483194177EF}"/>
              </a:ext>
            </a:extLst>
          </p:cNvPr>
          <p:cNvSpPr>
            <a:spLocks noGrp="1"/>
          </p:cNvSpPr>
          <p:nvPr/>
        </p:nvSpPr>
        <p:spPr>
          <a:xfrm>
            <a:off x="723900" y="2543175"/>
            <a:ext cx="5000625" cy="1857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Interprets the available evidence</a:t>
            </a:r>
          </a:p>
          <a:p>
            <a:pPr>
              <a:defRPr sz="2250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Suggests the next useful check</a:t>
            </a:r>
          </a:p>
          <a:p>
            <a:pPr>
              <a:defRPr sz="2250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Keeps uncertainty visible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554505-D0DF-465C-ADF4-4207A9470233}"/>
              </a:ext>
            </a:extLst>
          </p:cNvPr>
          <p:cNvSpPr>
            <a:spLocks noGrp="1"/>
          </p:cNvSpPr>
          <p:nvPr/>
        </p:nvSpPr>
        <p:spPr>
          <a:xfrm>
            <a:off x="6667500" y="1800225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F1CB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1CB80"/>
                </a:solidFill>
                <a:latin typeface="Helvetica Neue"/>
                <a:ea typeface="Helvetica Neue"/>
                <a:cs typeface="Helvetica Neue"/>
              </a:rPr>
              <a:t>Guardrail layer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EC1021-0EDE-4E9B-A7AE-3F3EBD44CFC0}"/>
              </a:ext>
            </a:extLst>
          </p:cNvPr>
          <p:cNvSpPr>
            <a:spLocks noGrp="1"/>
          </p:cNvSpPr>
          <p:nvPr/>
        </p:nvSpPr>
        <p:spPr>
          <a:xfrm>
            <a:off x="6667500" y="2543175"/>
            <a:ext cx="4857750" cy="1857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Applies deterministic policy</a:t>
            </a:r>
          </a:p>
          <a:p>
            <a:pPr>
              <a:defRPr sz="2250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Requires review for risky actions</a:t>
            </a:r>
          </a:p>
          <a:p>
            <a:pPr>
              <a:defRPr sz="2250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Keeps approval separate from execution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71ABDE-8649-4B7B-B88C-D7C6F1480007}"/>
              </a:ext>
            </a:extLst>
          </p:cNvPr>
          <p:cNvSpPr>
            <a:spLocks noGrp="1"/>
          </p:cNvSpPr>
          <p:nvPr/>
        </p:nvSpPr>
        <p:spPr>
          <a:xfrm>
            <a:off x="723900" y="5219700"/>
            <a:ext cx="106680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rPr>
              <a:t>Executed actions require health verification and an audit record.</a:t>
            </a:r>
          </a:p>
        </p:txBody>
      </p:sp>
    </p:spTree>
    <p:extLst>
      <p:ext uri="{BB962C8B-B14F-4D97-AF65-F5344CB8AC3E}">
        <p14:creationId xmlns:p14="http://schemas.microsoft.com/office/powerpoint/2010/main" val="446057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AD8463-7C70-6E0E-D0DE-35BD02073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47574"/>
            <a:ext cx="7772400" cy="636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886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C52278-C245-4BD0-864C-AA976CE03557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Demonstration 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44A755-E630-4096-A34D-E86A940E5B9C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AC8D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307140-EB58-4453-8347-8CA82F771519}"/>
              </a:ext>
            </a:extLst>
          </p:cNvPr>
          <p:cNvSpPr>
            <a:spLocks noGrp="1"/>
          </p:cNvSpPr>
          <p:nvPr/>
        </p:nvSpPr>
        <p:spPr>
          <a:xfrm>
            <a:off x="723900" y="1752600"/>
            <a:ext cx="5048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60DB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60DBD1"/>
                </a:solidFill>
                <a:latin typeface="Helvetica Neue"/>
                <a:ea typeface="Helvetica Neue"/>
                <a:cs typeface="Helvetica Neue"/>
              </a:rPr>
              <a:t>Live measurement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0D22C6-C7FC-4227-B8D3-5944649F7CF6}"/>
              </a:ext>
            </a:extLst>
          </p:cNvPr>
          <p:cNvSpPr>
            <a:spLocks noGrp="1"/>
          </p:cNvSpPr>
          <p:nvPr/>
        </p:nvSpPr>
        <p:spPr>
          <a:xfrm>
            <a:off x="723900" y="2524125"/>
            <a:ext cx="5095875" cy="1857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Local checkout application</a:t>
            </a:r>
          </a:p>
          <a:p>
            <a:pPr>
              <a:defRPr sz="2325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Prometheus health metrics</a:t>
            </a:r>
          </a:p>
          <a:p>
            <a:pPr>
              <a:defRPr sz="2325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Evidence may leave the cause unconfirmed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835AA4-1BBD-406A-B4DF-D77E7B31B12F}"/>
              </a:ext>
            </a:extLst>
          </p:cNvPr>
          <p:cNvSpPr>
            <a:spLocks noGrp="1"/>
          </p:cNvSpPr>
          <p:nvPr/>
        </p:nvSpPr>
        <p:spPr>
          <a:xfrm>
            <a:off x="6667500" y="1752600"/>
            <a:ext cx="4857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F1CB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1CB80"/>
                </a:solidFill>
                <a:latin typeface="Helvetica Neue"/>
                <a:ea typeface="Helvetica Neue"/>
                <a:cs typeface="Helvetica Neue"/>
              </a:rPr>
              <a:t>Simulated scenario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426CEC-D9FD-4C9E-AADE-1E519998819A}"/>
              </a:ext>
            </a:extLst>
          </p:cNvPr>
          <p:cNvSpPr>
            <a:spLocks noGrp="1"/>
          </p:cNvSpPr>
          <p:nvPr/>
        </p:nvSpPr>
        <p:spPr>
          <a:xfrm>
            <a:off x="6667500" y="2524125"/>
            <a:ext cx="4857750" cy="1857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Controlled memory failure</a:t>
            </a:r>
          </a:p>
          <a:p>
            <a:pPr>
              <a:defRPr sz="2325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Knowledge retrieval example</a:t>
            </a:r>
          </a:p>
          <a:p>
            <a:pPr>
              <a:defRPr sz="2325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Human approval policy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1333A4-7252-4A60-9CCE-B245E3A3906B}"/>
              </a:ext>
            </a:extLst>
          </p:cNvPr>
          <p:cNvSpPr>
            <a:spLocks noGrp="1"/>
          </p:cNvSpPr>
          <p:nvPr/>
        </p:nvSpPr>
        <p:spPr>
          <a:xfrm>
            <a:off x="723900" y="5238750"/>
            <a:ext cx="10572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4F7FC"/>
                </a:solidFill>
                <a:latin typeface="Helvetica Neue"/>
                <a:ea typeface="Helvetica Neue"/>
                <a:cs typeface="Helvetica Neue"/>
              </a:rPr>
              <a:t>Checkout incident walkthrough</a:t>
            </a:r>
          </a:p>
        </p:txBody>
      </p:sp>
    </p:spTree>
    <p:extLst>
      <p:ext uri="{BB962C8B-B14F-4D97-AF65-F5344CB8AC3E}">
        <p14:creationId xmlns:p14="http://schemas.microsoft.com/office/powerpoint/2010/main" val="184472909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626</Words>
  <Application>Microsoft Macintosh PowerPoint</Application>
  <DocSecurity>0</DocSecurity>
  <PresentationFormat>Widescreen</PresentationFormat>
  <Paragraphs>104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Susan Chakiath Dani</cp:lastModifiedBy>
  <cp:revision>1</cp:revision>
  <dcterms:created xsi:type="dcterms:W3CDTF">2026-10-10T01:12:35Z</dcterms:created>
  <dcterms:modified xsi:type="dcterms:W3CDTF">2026-10-10T03:24:42Z</dcterms:modified>
</cp:coreProperties>
</file>