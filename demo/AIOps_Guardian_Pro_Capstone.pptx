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1c54ea1c5046a4" /><Relationship Type="http://schemas.openxmlformats.org/officeDocument/2006/relationships/extended-properties" Target="/docProps/app.xml" Id="Rcf1a9750a9bd427f" /><Relationship Type="http://schemas.openxmlformats.org/officeDocument/2006/relationships/officeDocument" Target="/ppt/presentation.xml" Id="R2605f2fc26a048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df0f6724174911"/>
  </p:sldMasterIdLst>
  <p:notesMasterIdLst>
    <p:notesMasterId xmlns:r="http://schemas.openxmlformats.org/officeDocument/2006/relationships" r:id="R421c27f9e6204ac5"/>
  </p:notesMasterIdLst>
  <p:sldIdLst>
    <p:sldId xmlns:r="http://schemas.openxmlformats.org/officeDocument/2006/relationships" id="256" r:id="Ra6c857662a4a4dbc"/>
    <p:sldId xmlns:r="http://schemas.openxmlformats.org/officeDocument/2006/relationships" id="257" r:id="R10123c00acb94117"/>
    <p:sldId xmlns:r="http://schemas.openxmlformats.org/officeDocument/2006/relationships" id="258" r:id="Re4436b223f324954"/>
    <p:sldId xmlns:r="http://schemas.openxmlformats.org/officeDocument/2006/relationships" id="259" r:id="Rdd49be337dbc4c42"/>
    <p:sldId xmlns:r="http://schemas.openxmlformats.org/officeDocument/2006/relationships" id="260" r:id="Racefc3b1fe944b71"/>
    <p:sldId xmlns:r="http://schemas.openxmlformats.org/officeDocument/2006/relationships" id="261" r:id="Raf6979bc2bf14b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3119455b8f43ef" /><Relationship Type="http://schemas.openxmlformats.org/officeDocument/2006/relationships/slideMaster" Target="/ppt/slideMasters/slideMaster1.xml" Id="Rb5df0f6724174911" /><Relationship Type="http://schemas.openxmlformats.org/officeDocument/2006/relationships/notesMaster" Target="/ppt/notesMasters/notesMaster1.xml" Id="R421c27f9e6204ac5" /><Relationship Type="http://schemas.openxmlformats.org/officeDocument/2006/relationships/presProps" Target="/ppt/presProps.xml" Id="R92117a99402b4530" /><Relationship Type="http://schemas.openxmlformats.org/officeDocument/2006/relationships/tableStyles" Target="/ppt/tableStyles.xml" Id="Redee08ab486c4fe1" /><Relationship Type="http://schemas.openxmlformats.org/officeDocument/2006/relationships/slide" Target="/ppt/slides/slide1.xml" Id="Ra6c857662a4a4dbc" /><Relationship Type="http://schemas.openxmlformats.org/officeDocument/2006/relationships/slide" Target="/ppt/slides/slide2.xml" Id="R10123c00acb94117" /><Relationship Type="http://schemas.openxmlformats.org/officeDocument/2006/relationships/slide" Target="/ppt/slides/slide3.xml" Id="Re4436b223f324954" /><Relationship Type="http://schemas.openxmlformats.org/officeDocument/2006/relationships/slide" Target="/ppt/slides/slide4.xml" Id="Rdd49be337dbc4c42" /><Relationship Type="http://schemas.openxmlformats.org/officeDocument/2006/relationships/slide" Target="/ppt/slides/slide5.xml" Id="Racefc3b1fe944b71" /><Relationship Type="http://schemas.openxmlformats.org/officeDocument/2006/relationships/slide" Target="/ppt/slides/slide6.xml" Id="Raf6979bc2bf14b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208acf2b9441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012a554d614ce1" /><Relationship Type="http://schemas.openxmlformats.org/officeDocument/2006/relationships/notesMaster" Target="/ppt/notesMasters/notesMaster1.xml" Id="R88f58c20e52a44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335812942f42c7" /><Relationship Type="http://schemas.openxmlformats.org/officeDocument/2006/relationships/notesMaster" Target="/ppt/notesMasters/notesMaster1.xml" Id="R51d6b558409048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02d383ad3a4501" /><Relationship Type="http://schemas.openxmlformats.org/officeDocument/2006/relationships/notesMaster" Target="/ppt/notesMasters/notesMaster1.xml" Id="R6124917aa22448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794df86587499d" /><Relationship Type="http://schemas.openxmlformats.org/officeDocument/2006/relationships/notesMaster" Target="/ppt/notesMasters/notesMaster1.xml" Id="R4ff7ff4799d448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96e4416a924d50" /><Relationship Type="http://schemas.openxmlformats.org/officeDocument/2006/relationships/notesMaster" Target="/ppt/notesMasters/notesMaster1.xml" Id="R41227577795e40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f7917c1dcc438f" /><Relationship Type="http://schemas.openxmlformats.org/officeDocument/2006/relationships/notesMaster" Target="/ppt/notesMasters/notesMaster1.xml" Id="Rd04e982ead9d40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Good morning, everyone. Today I’m presenting my capstone project, AIOps Guardian Pro, an AI-assisted investigation platform for SRE and cloud operations teams.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project grew beyond my initial scope, but I kept the additional components to demonstrate a realistic SRE workflow. I’ll briefly cover the use case, technology stack, architecture, and a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an on-call engineer receives an alert that checkout requests are failing after a deployment. Finding the cause requires gathering evidence from metrics, logs, deployment history, and runbooks.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designed Guardian to support that investigation through a conversational interface. It reviews available evidence, asks clarifying questions, and suggests the next useful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the technology stack, I use React for the frontend and Python with FastAPI for the backend. LangGraph coordinates specialist agents, while MCP connects them to operational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PostgreSQL stores operational records and conversations, and FAISS supports knowledge retrieval. A local Qwen model through Ollama supports conversational reasoning. I use Prometheus and Grafana for monitoring and visualization, with the application running in Kubernetes.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Architecturally, the flow starts with an engineer’s question. Guardian identifies the application and environment, gathers relevant evidence, and uses the conversation context to explain findings or request more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[Pause briefly to trace the four stages.]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kept the guardrail layer separate from the reasoning layer. The model can recommend an action, but risky changes require human approval. Any executed action must also be verified and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[If showing the approval queue, explain that a request does not mean execution.]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this demonstration, I use a local checkout application with live Prometheus measurements. I’ll also show a clearly labelled simulated memory-failure scenario to illustrate knowledge retrieval and approval policies.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goal is to help engineers investigate more efficiently while keeping uncertainty visible and operational decisions under human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With that overview, I’ll now walk through the checkout incident.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[Open the local Guardian interface. Keep live measurements separate from simulated evidence.]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Presenter-provided shortened capstone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4b1089c8049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5f9adb47ff4f26" /><Relationship Type="http://schemas.openxmlformats.org/officeDocument/2006/relationships/slideLayout" Target="/ppt/slideLayouts/slideLayout1.xml" Id="R3fb3bd3845444a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b3bd3845444a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8b4980abb4bcc" /><Relationship Type="http://schemas.openxmlformats.org/officeDocument/2006/relationships/notesSlide" Target="/ppt/notesSlides/notesSlide1.xml" Id="R0598b2d17e6946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6b5d7a13f47d5" /><Relationship Type="http://schemas.openxmlformats.org/officeDocument/2006/relationships/notesSlide" Target="/ppt/notesSlides/notesSlide2.xml" Id="R07d8a7f7e0c842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22f0b2a454128" /><Relationship Type="http://schemas.openxmlformats.org/officeDocument/2006/relationships/notesSlide" Target="/ppt/notesSlides/notesSlide3.xml" Id="Re679295df5ba41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e3516e4cf41a0" /><Relationship Type="http://schemas.openxmlformats.org/officeDocument/2006/relationships/notesSlide" Target="/ppt/notesSlides/notesSlide4.xml" Id="Rdac25282d1e44e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aee9251834bc5" /><Relationship Type="http://schemas.openxmlformats.org/officeDocument/2006/relationships/notesSlide" Target="/ppt/notesSlides/notesSlide5.xml" Id="Rd00a2b5882d243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6c64f93374865" /><Relationship Type="http://schemas.openxmlformats.org/officeDocument/2006/relationships/notesSlide" Target="/ppt/notesSlides/notesSlide6.xml" Id="R0069350ae9034c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98A02-D385-412D-BBED-A9030470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Capstone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157EB-F271-4840-9565-6BA19BAB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668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AIOps</a:t>
            </a:r>
          </a:p>
          <a:p xmlns:a="http://schemas.openxmlformats.org/drawingml/2006/main">
            <a:pPr>
              <a:defRPr sz="6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Guardian Pro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7042D-75E1-4C07-9496-EDAB308D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9906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AI-assisted investigation for SRE</a:t>
            </a:r>
          </a:p>
          <a:p xmlns:a="http://schemas.openxmlformats.org/drawingml/2006/main">
            <a:pPr>
              <a:def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and cloud operations teams</a:t>
            </a:r>
          </a:p>
        </p:txBody>
      </p:sp>
    </p:spTree>
    <p:extLst>
      <p:ext uri="{BB962C8B-B14F-4D97-AF65-F5344CB8AC3E}">
        <p14:creationId xmlns:p14="http://schemas.microsoft.com/office/powerpoint/2010/main" val="20396850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EA90F-DFB4-4AD5-B228-5C20B6F8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Checkout incident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025DD-7E98-459E-8309-2D73B1E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FA244-0A17-404E-98AF-6BBB6D7C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647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Checkout requests fail</a:t>
            </a:r>
          </a:p>
          <a:p xmlns:a="http://schemas.openxmlformats.org/drawingml/2006/main">
            <a:pPr>
              <a:defRPr sz="35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after a 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21B5A-2B47-4BEC-8F04-B1FB27D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An engineer needs evidence</a:t>
            </a:r>
          </a:p>
          <a:p xmlns:a="http://schemas.openxmlformats.org/drawingml/2006/main">
            <a:pPr>
              <a:defRPr sz="24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to narrow the cause.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ED9C2-9B7B-4E7F-AC69-F6F7B330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240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Evidence to inspect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B90F8-AC72-4110-9CF9-3604F526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D2D1C-2213-4A8E-A119-992240AA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52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459BE-F60B-48D4-8E35-A0B677F8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433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Deployment history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54C14-F4F3-40D8-BA9E-766EF1B0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33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Runbooks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817D7E-0DD3-4243-AA24-FBB3B2A0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Guardian retains context and asks clarifying questions.</a:t>
            </a:r>
          </a:p>
        </p:txBody>
      </p:sp>
    </p:spTree>
    <p:extLst>
      <p:ext uri="{BB962C8B-B14F-4D97-AF65-F5344CB8AC3E}">
        <p14:creationId xmlns:p14="http://schemas.microsoft.com/office/powerpoint/2010/main" val="14896453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426E4-367B-42FD-A085-E4A85B40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Technology stack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2C3EE-B974-421C-B66D-426F0FBD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23900" y="1685925"/>
          <a:ext xmlns:a="http://schemas.openxmlformats.org/drawingml/2006/main" cx="10744200" cy="42005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172200"/>
              </a:tblGrid>
              <a:tr h="6000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0DBD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Responsibility</a:t>
                      </a:r>
                    </a:p>
                  </a:txBody>
                  <a:tcPr marL="171450" marR="171450" marT="114300" marB="114300">
                    <a:solidFill>
                      <a:srgbClr val="2036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0DBD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Technology</a:t>
                      </a:r>
                    </a:p>
                  </a:txBody>
                  <a:tcPr marL="171450" marR="171450" marT="114300" marB="114300">
                    <a:solidFill>
                      <a:srgbClr val="20364A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User interface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React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Backend APIs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Python and FastAPI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Agent coordination and tools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LangGraph and MCP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 and knowledge retrieval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PostgreSQL and FAISS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Conversational reasoning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 through Ollama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Observability and runtime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4F7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Prometheus, Grafana and Kubernetes</a:t>
                      </a:r>
                    </a:p>
                  </a:txBody>
                  <a:tcPr marL="171450" marR="171450" marT="114300" marB="114300">
                    <a:solidFill>
                      <a:srgbClr val="0B142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9796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4720DF-5959-4358-AEDA-9B9922EA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Investigation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149EC-D055-472D-8216-777F8795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B045-BC70-42FC-B87E-D8026753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19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EF441-F8C3-4617-B3FC-35646CBD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954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E2B3B-5A2C-42F9-AB94-25804A41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24025"/>
            <a:ext cx="721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Identify the application, environment and namespace.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4C53B-35FC-4492-B5B5-98D7EE7C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19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A2ED-09DE-415D-99B7-3A05DD56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051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Collect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54AF2-49BA-4839-BCB9-FC551821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33675"/>
            <a:ext cx="721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Gather available evidence through specialist tools.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67F07-01E5-4F85-A501-1B9AD8DC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619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E76F0-E438-4A7E-B9D7-AF4BCC3A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Reason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57305-D179-486A-9678-861AD5A5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43325"/>
            <a:ext cx="721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Explain findings using evidence and conversation history.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19F0B-0113-4A66-9CA5-F9971F93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619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4D3C04-0D6A-4927-89DE-165CD3F3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244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Clarify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951CE0-0FFE-4893-BC88-FAE11B41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52975"/>
            <a:ext cx="721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Ask for missing details and retain the engineer’s answers.</a:t>
            </a:r>
          </a:p>
        </p:txBody>
      </p:sp>
    </p:spTree>
    <p:extLst>
      <p:ext uri="{BB962C8B-B14F-4D97-AF65-F5344CB8AC3E}">
        <p14:creationId xmlns:p14="http://schemas.microsoft.com/office/powerpoint/2010/main" val="19542301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6F81B-FA43-4AD8-9BFC-1E900F07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Human control and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21771-3241-4828-87EA-3F3B7BB2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1B5A1-CA64-45F1-8D16-A28D99AF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Reasoning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F49E1-6953-4C38-AF2F-04831941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43175"/>
            <a:ext cx="50006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Interprets the available evidence</a:t>
            </a:r>
          </a:p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Suggests the next useful check</a:t>
            </a:r>
          </a:p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Keeps uncertainty visible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54505-D0DF-465C-ADF4-4207A947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0225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1CB8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1CB80"/>
                </a:solidFill>
                <a:latin typeface="Helvetica Neue"/>
                <a:ea typeface="Helvetica Neue"/>
                <a:cs typeface="Helvetica Neue"/>
              </a:rPr>
              <a:t>Guardrail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C1021-0EDE-4E9B-A7AE-3F3EBD44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43175"/>
            <a:ext cx="4857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Applies deterministic policy</a:t>
            </a:r>
          </a:p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Requires review for risky actions</a:t>
            </a:r>
          </a:p>
          <a:p xmlns:a="http://schemas.openxmlformats.org/drawingml/2006/main">
            <a:pPr>
              <a:def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Keeps approval separate from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1ABDE-8649-4B7B-B88C-D7C6F148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Executed actions require health verification and an audit record.</a:t>
            </a:r>
          </a:p>
        </p:txBody>
      </p:sp>
    </p:spTree>
    <p:extLst>
      <p:ext uri="{BB962C8B-B14F-4D97-AF65-F5344CB8AC3E}">
        <p14:creationId xmlns:p14="http://schemas.microsoft.com/office/powerpoint/2010/main" val="4460574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4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52278-C245-4BD0-864C-AA976CE0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Demonstration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4A755-E630-4096-A34D-E86A940E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BAC8D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07140-EB58-4453-8347-8CA82F77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60DBD1"/>
                </a:solidFill>
                <a:latin typeface="Helvetica Neue"/>
                <a:ea typeface="Helvetica Neue"/>
                <a:cs typeface="Helvetica Neue"/>
              </a:rPr>
              <a:t>Live measurement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D22C6-C7FC-4227-B8D3-5944649F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509587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Local checkout application</a:t>
            </a:r>
          </a:p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Prometheus health metrics</a:t>
            </a:r>
          </a:p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Evidence may leave the cause unconfirmed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35AA4-1BBD-406A-B4DF-D77E7B31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1CB8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1CB80"/>
                </a:solidFill>
                <a:latin typeface="Helvetica Neue"/>
                <a:ea typeface="Helvetica Neue"/>
                <a:cs typeface="Helvetica Neue"/>
              </a:rPr>
              <a:t>Simulated 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26CEC-D9FD-4C9E-AADE-1E519998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24125"/>
            <a:ext cx="4857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Controlled memory failure</a:t>
            </a:r>
          </a:p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Knowledge retrieval example</a:t>
            </a:r>
          </a:p>
          <a:p xmlns:a="http://schemas.openxmlformats.org/drawingml/2006/main">
            <a:pPr>
              <a:def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Human approval 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1333A4-7252-4A60-9CCE-B245E3A3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4F7FC"/>
                </a:solidFill>
                <a:latin typeface="Helvetica Neue"/>
                <a:ea typeface="Helvetica Neue"/>
                <a:cs typeface="Helvetica Neue"/>
              </a:rPr>
              <a:t>Checkout incident walkthrough</a:t>
            </a:r>
          </a:p>
        </p:txBody>
      </p:sp>
    </p:spTree>
    <p:extLst>
      <p:ext uri="{BB962C8B-B14F-4D97-AF65-F5344CB8AC3E}">
        <p14:creationId xmlns:p14="http://schemas.microsoft.com/office/powerpoint/2010/main" val="18447290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2026-10-10T01:12:35.4940000Z</dcterms:created>
  <dcterms:modified xsi:type="dcterms:W3CDTF">2026-10-10T01:12:35.4940000Z</dcterms:modified>
</coreProperties>
</file>